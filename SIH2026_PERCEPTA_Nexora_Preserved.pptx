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8686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102C57"/>
                </a:solidFill>
              </a:defRPr>
            </a:pPr>
            <a:r>
              <a:t>SMART INDIA HACKATHON 2026</a:t>
            </a:r>
          </a:p>
          <a:p>
            <a:pPr algn="ctr">
              <a:defRPr sz="2400" b="1">
                <a:solidFill>
                  <a:srgbClr val="102C57"/>
                </a:solidFill>
              </a:defRPr>
            </a:pPr>
            <a:r>
              <a:t>TITLE PAGE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0" y="320040"/>
            <a:ext cx="2011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102C57"/>
                </a:solidFill>
              </a:defRPr>
            </a:pPr>
            <a:r>
              <a:t>SMART INDIA</a:t>
            </a:r>
            <a:br/>
            <a:r>
              <a:t>HACKATHON</a:t>
            </a:r>
            <a:br/>
            <a:r>
              <a:t>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103120"/>
            <a:ext cx="6583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b="1" sz="1600">
                <a:solidFill>
                  <a:srgbClr val="1E293B"/>
                </a:solidFill>
              </a:rPr>
              <a:t>•  Problem Statement ID : </a:t>
            </a:r>
            <a:r>
              <a:rPr sz="1600" i="0">
                <a:solidFill>
                  <a:srgbClr val="1E293B"/>
                </a:solidFill>
              </a:rPr>
              <a:t>SIH26171</a:t>
            </a:r>
          </a:p>
          <a:p>
            <a:pPr>
              <a:spcAft>
                <a:spcPts val="1400"/>
              </a:spcAft>
            </a:pPr>
            <a:r>
              <a:rPr b="1" sz="1600">
                <a:solidFill>
                  <a:srgbClr val="1E293B"/>
                </a:solidFill>
              </a:rPr>
              <a:t>•  Problem Statement Title : </a:t>
            </a:r>
            <a:r>
              <a:rPr sz="1600" i="1">
                <a:solidFill>
                  <a:srgbClr val="1E293B"/>
                </a:solidFill>
              </a:rPr>
              <a:t>On-device Visual
Perception for Light-weight Browser Agents</a:t>
            </a:r>
          </a:p>
          <a:p>
            <a:pPr>
              <a:spcAft>
                <a:spcPts val="1400"/>
              </a:spcAft>
            </a:pPr>
            <a:r>
              <a:rPr b="1" sz="1600">
                <a:solidFill>
                  <a:srgbClr val="1E293B"/>
                </a:solidFill>
              </a:rPr>
              <a:t>•  Theme: </a:t>
            </a:r>
            <a:r>
              <a:rPr sz="1600" i="1">
                <a:solidFill>
                  <a:srgbClr val="1E293B"/>
                </a:solidFill>
              </a:rPr>
              <a:t>Miscellaneous</a:t>
            </a:r>
          </a:p>
          <a:p>
            <a:pPr>
              <a:spcAft>
                <a:spcPts val="1400"/>
              </a:spcAft>
            </a:pPr>
            <a:r>
              <a:rPr b="1" sz="1600">
                <a:solidFill>
                  <a:srgbClr val="1E293B"/>
                </a:solidFill>
              </a:rPr>
              <a:t>•  PS Category : </a:t>
            </a:r>
            <a:r>
              <a:rPr sz="1600" i="1">
                <a:solidFill>
                  <a:srgbClr val="1E293B"/>
                </a:solidFill>
              </a:rPr>
              <a:t>Software</a:t>
            </a:r>
          </a:p>
          <a:p>
            <a:pPr>
              <a:spcAft>
                <a:spcPts val="1400"/>
              </a:spcAft>
            </a:pPr>
            <a:r>
              <a:rPr b="1" sz="1600">
                <a:solidFill>
                  <a:srgbClr val="1E293B"/>
                </a:solidFill>
              </a:rPr>
              <a:t>•  PROJECT : </a:t>
            </a:r>
            <a:r>
              <a:rPr sz="1600" i="1">
                <a:solidFill>
                  <a:srgbClr val="1E293B"/>
                </a:solidFill>
              </a:rPr>
              <a:t>PERCEPTA</a:t>
            </a:r>
          </a:p>
          <a:p>
            <a:pPr>
              <a:spcAft>
                <a:spcPts val="1400"/>
              </a:spcAft>
            </a:pPr>
            <a:r>
              <a:rPr b="1" sz="1600">
                <a:solidFill>
                  <a:srgbClr val="1E293B"/>
                </a:solidFill>
              </a:rPr>
              <a:t>•  Tagline : </a:t>
            </a:r>
            <a:r>
              <a:rPr sz="1600" i="1">
                <a:solidFill>
                  <a:srgbClr val="1E293B"/>
                </a:solidFill>
              </a:rPr>
              <a:t>On-Device Visual Browser Agent</a:t>
            </a:r>
          </a:p>
          <a:p>
            <a:pPr>
              <a:spcAft>
                <a:spcPts val="1400"/>
              </a:spcAft>
            </a:pPr>
            <a:r>
              <a:rPr b="1" sz="1600">
                <a:solidFill>
                  <a:srgbClr val="1E293B"/>
                </a:solidFill>
              </a:rPr>
              <a:t>•  Team Name : </a:t>
            </a:r>
            <a:r>
              <a:rPr sz="1600" i="1">
                <a:solidFill>
                  <a:srgbClr val="1E293B"/>
                </a:solidFill>
              </a:rPr>
              <a:t>NEXORA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8079" y="1920240"/>
            <a:ext cx="3931920" cy="42062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548640"/>
          <a:lstStyle/>
          <a:p>
            <a:pPr algn="ctr">
              <a:defRPr sz="2800" b="1">
                <a:solidFill>
                  <a:srgbClr val="102C57"/>
                </a:solidFill>
              </a:defRPr>
            </a:pPr>
            <a:r>
              <a:t>PERCEPTA</a:t>
            </a:r>
          </a:p>
          <a:p>
            <a:pPr algn="ctr">
              <a:spcAft>
                <a:spcPts val="2400"/>
              </a:spcAft>
              <a:defRPr sz="1300">
                <a:solidFill>
                  <a:srgbClr val="355FAC"/>
                </a:solidFill>
              </a:defRPr>
            </a:pPr>
            <a:r>
              <a:t>Visual Browser Agent</a:t>
            </a:r>
            <a:br/>
            <a:r>
              <a:t>ISRO SIH26171 Prototype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✓ On-Device Computer Vision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✓ Vision + DOM Hybrid Fusion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✓ Privacy Guard (Zero Cloud Calls)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✓ Playwright Safe Automation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✓ Self-Correction &amp; Verification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2011680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2000" b="1">
                <a:solidFill>
                  <a:srgbClr val="102C57"/>
                </a:solidFill>
              </a:defRPr>
            </a:pPr>
            <a:r>
              <a:t>NEXORA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0" y="320040"/>
            <a:ext cx="6705295" cy="5486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2400" b="1">
                <a:solidFill>
                  <a:srgbClr val="102C57"/>
                </a:solidFill>
              </a:defRPr>
            </a:pPr>
            <a:r>
              <a:t>PERCEPTA — VISUAL BROWSER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228600"/>
            <a:ext cx="2011680" cy="7315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 b="1">
                <a:solidFill>
                  <a:srgbClr val="102C57"/>
                </a:solidFill>
              </a:defRPr>
            </a:pPr>
            <a:r>
              <a:t>SMART INDIA</a:t>
            </a:r>
          </a:p>
          <a:p>
            <a:pPr algn="r">
              <a:defRPr sz="1100" b="1">
                <a:solidFill>
                  <a:srgbClr val="102C57"/>
                </a:solidFill>
              </a:defRPr>
            </a:pPr>
            <a:r>
              <a:t>HACKATHON</a:t>
            </a:r>
          </a:p>
          <a:p>
            <a:pPr algn="r">
              <a:defRPr sz="1100" b="1">
                <a:solidFill>
                  <a:srgbClr val="102C57"/>
                </a:solidFill>
              </a:defRPr>
            </a:pPr>
            <a:r>
              <a:t>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3657600" cy="3657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800" b="1">
                <a:solidFill>
                  <a:srgbClr val="E11D48"/>
                </a:solidFill>
              </a:defRPr>
            </a:pPr>
            <a:r>
              <a:t>Proposed Solution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54480"/>
            <a:ext cx="352044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C40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554480"/>
            <a:ext cx="3520440" cy="1097280"/>
          </a:xfrm>
          <a:prstGeom prst="roundRect">
            <a:avLst/>
          </a:prstGeom>
          <a:solidFill>
            <a:srgbClr val="3C4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Explanation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743200"/>
            <a:ext cx="31546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>
                <a:solidFill>
                  <a:srgbClr val="1E293B"/>
                </a:solidFill>
              </a:defRPr>
            </a:pPr>
            <a:r>
              <a:t>•  Visually understands webpages</a:t>
            </a:r>
          </a:p>
          <a:p>
            <a:pPr>
              <a:spcAft>
                <a:spcPts val="1000"/>
              </a:spcAft>
              <a:defRPr sz="1200">
                <a:solidFill>
                  <a:srgbClr val="1E293B"/>
                </a:solidFill>
              </a:defRPr>
            </a:pPr>
            <a:r>
              <a:t>•  Understands natural-language tasks</a:t>
            </a:r>
          </a:p>
          <a:p>
            <a:pPr>
              <a:spcAft>
                <a:spcPts val="1000"/>
              </a:spcAft>
              <a:defRPr sz="1200">
                <a:solidFill>
                  <a:srgbClr val="1E293B"/>
                </a:solidFill>
              </a:defRPr>
            </a:pPr>
            <a:r>
              <a:t>•  Processes perception locally on-device</a:t>
            </a:r>
          </a:p>
          <a:p>
            <a:pPr>
              <a:spcAft>
                <a:spcPts val="1000"/>
              </a:spcAft>
              <a:defRPr sz="1200">
                <a:solidFill>
                  <a:srgbClr val="1E293B"/>
                </a:solidFill>
              </a:defRPr>
            </a:pPr>
            <a:r>
              <a:t>•  Identifies the correct UI elements</a:t>
            </a:r>
          </a:p>
          <a:p>
            <a:pPr>
              <a:spcAft>
                <a:spcPts val="1000"/>
              </a:spcAft>
              <a:defRPr sz="1200">
                <a:solidFill>
                  <a:srgbClr val="1E293B"/>
                </a:solidFill>
              </a:defRPr>
            </a:pPr>
            <a:r>
              <a:t>•  Performs actions using Playwright</a:t>
            </a:r>
          </a:p>
          <a:p>
            <a:pPr>
              <a:spcAft>
                <a:spcPts val="1000"/>
              </a:spcAft>
              <a:defRPr sz="1200">
                <a:solidFill>
                  <a:srgbClr val="1E293B"/>
                </a:solidFill>
              </a:defRPr>
            </a:pPr>
            <a:r>
              <a:t>•  Protects sensitive user data</a:t>
            </a:r>
          </a:p>
          <a:p>
            <a:pPr>
              <a:spcAft>
                <a:spcPts val="1000"/>
              </a:spcAft>
              <a:defRPr sz="1200">
                <a:solidFill>
                  <a:srgbClr val="1E293B"/>
                </a:solidFill>
              </a:defRPr>
            </a:pPr>
            <a:r>
              <a:t>•  Verifies completed browser actions</a:t>
            </a:r>
          </a:p>
          <a:p>
            <a:pPr>
              <a:spcAft>
                <a:spcPts val="1000"/>
              </a:spcAft>
              <a:defRPr sz="1200">
                <a:solidFill>
                  <a:srgbClr val="1E293B"/>
                </a:solidFill>
              </a:defRPr>
            </a:pPr>
            <a:r>
              <a:t>•  Recovers from failed actions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88536" y="1554480"/>
            <a:ext cx="352044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C40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288536" y="1554480"/>
            <a:ext cx="3520440" cy="1097280"/>
          </a:xfrm>
          <a:prstGeom prst="roundRect">
            <a:avLst/>
          </a:prstGeom>
          <a:solidFill>
            <a:srgbClr val="3C4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Problem Address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71416" y="2743200"/>
            <a:ext cx="31546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200">
                <a:solidFill>
                  <a:srgbClr val="102C57"/>
                </a:solidFill>
              </a:rPr>
              <a:t>•  Fragile Selectors
</a:t>
            </a:r>
            <a:r>
              <a:rPr sz="1050">
                <a:solidFill>
                  <a:srgbClr val="64748B"/>
                </a:solidFill>
              </a:rPr>
              <a:t>    Traditional automation depends heavily on XPath, CSS selectors and fixed DOM structures.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102C57"/>
                </a:solidFill>
              </a:rPr>
              <a:t>•  Dynamic Webpages
</a:t>
            </a:r>
            <a:r>
              <a:rPr sz="1050">
                <a:solidFill>
                  <a:srgbClr val="64748B"/>
                </a:solidFill>
              </a:rPr>
              <a:t>    Changing layouts and responsive shifts can break hard-coded automation.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102C57"/>
                </a:solidFill>
              </a:rPr>
              <a:t>•  Cloud Dependency
</a:t>
            </a:r>
            <a:r>
              <a:rPr sz="1050">
                <a:solidFill>
                  <a:srgbClr val="64748B"/>
                </a:solidFill>
              </a:rPr>
              <a:t>    Remote AI processing can introduce latency and severe data privacy concerns.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102C57"/>
                </a:solidFill>
              </a:rPr>
              <a:t>•  Silent Failures
</a:t>
            </a:r>
            <a:r>
              <a:rPr sz="1050">
                <a:solidFill>
                  <a:srgbClr val="64748B"/>
                </a:solidFill>
              </a:rPr>
              <a:t>    Conventional bots fail without verification or self-recovery capabilities.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28432" y="1554480"/>
            <a:ext cx="352044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C40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028432" y="1554480"/>
            <a:ext cx="3520440" cy="1097280"/>
          </a:xfrm>
          <a:prstGeom prst="roundRect">
            <a:avLst/>
          </a:prstGeom>
          <a:solidFill>
            <a:srgbClr val="3C4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Innovation &amp;</a:t>
            </a:r>
            <a:br/>
            <a:r>
              <a:t>Uniqueness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11312" y="2743200"/>
            <a:ext cx="31546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200">
                <a:solidFill>
                  <a:srgbClr val="102C57"/>
                </a:solidFill>
              </a:rPr>
              <a:t>•  Local Computer Vision
</a:t>
            </a:r>
            <a:r>
              <a:rPr sz="1050">
                <a:solidFill>
                  <a:srgbClr val="64748B"/>
                </a:solidFill>
              </a:rPr>
              <a:t>    Visual perception runs on-device.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102C57"/>
                </a:solidFill>
              </a:rPr>
              <a:t>•  Vision + DOM Hybrid
</a:t>
            </a:r>
            <a:r>
              <a:rPr sz="1050">
                <a:solidFill>
                  <a:srgbClr val="64748B"/>
                </a:solidFill>
              </a:rPr>
              <a:t>    Combines visual and browser context.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102C57"/>
                </a:solidFill>
              </a:rPr>
              <a:t>•  Privacy Protection
</a:t>
            </a:r>
            <a:r>
              <a:rPr sz="1050">
                <a:solidFill>
                  <a:srgbClr val="64748B"/>
                </a:solidFill>
              </a:rPr>
              <a:t>    Sensitive data detected and masked locally.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102C57"/>
                </a:solidFill>
              </a:rPr>
              <a:t>•  Safe Agentic Automation
</a:t>
            </a:r>
            <a:r>
              <a:rPr sz="1050">
                <a:solidFill>
                  <a:srgbClr val="64748B"/>
                </a:solidFill>
              </a:rPr>
              <a:t>    Controlled actions through Playwright.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102C57"/>
                </a:solidFill>
              </a:rPr>
              <a:t>•  Self-Correction
</a:t>
            </a:r>
            <a:r>
              <a:rPr sz="1050">
                <a:solidFill>
                  <a:srgbClr val="64748B"/>
                </a:solidFill>
              </a:rPr>
              <a:t>    Re-perceive and retry when required.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102C57"/>
                </a:solidFill>
              </a:rPr>
              <a:t>•  Lightweight Architecture
</a:t>
            </a:r>
            <a:r>
              <a:rPr sz="1050">
                <a:solidFill>
                  <a:srgbClr val="64748B"/>
                </a:solidFill>
              </a:rPr>
              <a:t>    CPU-first with zero cloud LLM requirement.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84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rIns="548640" tIns="27432"/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@SIH Idea submission- Template                                                                                                                                                                              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2011680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2000" b="1">
                <a:solidFill>
                  <a:srgbClr val="102C57"/>
                </a:solidFill>
              </a:defRPr>
            </a:pPr>
            <a:r>
              <a:t>NEXORA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0" y="320040"/>
            <a:ext cx="6705295" cy="5486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2400" b="1">
                <a:solidFill>
                  <a:srgbClr val="102C57"/>
                </a:solidFill>
              </a:defRPr>
            </a:pPr>
            <a:r>
              <a:t>PERCEPTA TECHNICAL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228600"/>
            <a:ext cx="2011680" cy="7315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 b="1">
                <a:solidFill>
                  <a:srgbClr val="102C57"/>
                </a:solidFill>
              </a:defRPr>
            </a:pPr>
            <a:r>
              <a:t>SMART INDIA</a:t>
            </a:r>
          </a:p>
          <a:p>
            <a:pPr algn="r">
              <a:defRPr sz="1100" b="1">
                <a:solidFill>
                  <a:srgbClr val="102C57"/>
                </a:solidFill>
              </a:defRPr>
            </a:pPr>
            <a:r>
              <a:t>HACKATHON</a:t>
            </a:r>
          </a:p>
          <a:p>
            <a:pPr algn="r">
              <a:defRPr sz="1100" b="1">
                <a:solidFill>
                  <a:srgbClr val="102C57"/>
                </a:solidFill>
              </a:defRPr>
            </a:pPr>
            <a:r>
              <a:t>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097280"/>
            <a:ext cx="356616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228600" wrap="square"/>
          <a:lstStyle/>
          <a:p>
            <a:pPr algn="ctr">
              <a:spcAft>
                <a:spcPts val="1000"/>
              </a:spcAft>
              <a:defRPr sz="1300" b="1">
                <a:solidFill>
                  <a:srgbClr val="102C57"/>
                </a:solidFill>
              </a:defRPr>
            </a:pPr>
            <a:r>
              <a:t>TECHNOLOGIES TO BE USED</a:t>
            </a:r>
          </a:p>
          <a:p>
            <a:pPr>
              <a:spcAft>
                <a:spcPts val="600"/>
              </a:spcAft>
            </a:pPr>
            <a:r>
              <a:rPr b="1" sz="950">
                <a:solidFill>
                  <a:srgbClr val="355FAC"/>
                </a:solidFill>
              </a:rPr>
              <a:t>LANGUAGES   </a:t>
            </a:r>
            <a:r>
              <a:rPr sz="950">
                <a:solidFill>
                  <a:srgbClr val="1E293B"/>
                </a:solidFill>
              </a:rPr>
              <a:t>Python • TypeScript • JavaScript</a:t>
            </a:r>
          </a:p>
          <a:p>
            <a:pPr>
              <a:spcAft>
                <a:spcPts val="600"/>
              </a:spcAft>
            </a:pPr>
            <a:r>
              <a:rPr b="1" sz="950">
                <a:solidFill>
                  <a:srgbClr val="355FAC"/>
                </a:solidFill>
              </a:rPr>
              <a:t>FRONTEND   </a:t>
            </a:r>
            <a:r>
              <a:rPr sz="950">
                <a:solidFill>
                  <a:srgbClr val="1E293B"/>
                </a:solidFill>
              </a:rPr>
              <a:t>React • Vite • Tailwind CSS</a:t>
            </a:r>
          </a:p>
          <a:p>
            <a:pPr>
              <a:spcAft>
                <a:spcPts val="600"/>
              </a:spcAft>
            </a:pPr>
            <a:r>
              <a:rPr b="1" sz="950">
                <a:solidFill>
                  <a:srgbClr val="355FAC"/>
                </a:solidFill>
              </a:rPr>
              <a:t>BACKEND   </a:t>
            </a:r>
            <a:r>
              <a:rPr sz="950">
                <a:solidFill>
                  <a:srgbClr val="1E293B"/>
                </a:solidFill>
              </a:rPr>
              <a:t>Node.js • Express</a:t>
            </a:r>
          </a:p>
          <a:p>
            <a:pPr>
              <a:spcAft>
                <a:spcPts val="600"/>
              </a:spcAft>
            </a:pPr>
            <a:r>
              <a:rPr b="1" sz="950">
                <a:solidFill>
                  <a:srgbClr val="355FAC"/>
                </a:solidFill>
              </a:rPr>
              <a:t>AUTOMATION   </a:t>
            </a:r>
            <a:r>
              <a:rPr sz="950">
                <a:solidFill>
                  <a:srgbClr val="1E293B"/>
                </a:solidFill>
              </a:rPr>
              <a:t>Playwright</a:t>
            </a:r>
          </a:p>
          <a:p>
            <a:pPr>
              <a:spcAft>
                <a:spcPts val="600"/>
              </a:spcAft>
            </a:pPr>
            <a:r>
              <a:rPr b="1" sz="950">
                <a:solidFill>
                  <a:srgbClr val="355FAC"/>
                </a:solidFill>
              </a:rPr>
              <a:t>AI / VISION   </a:t>
            </a:r>
            <a:r>
              <a:rPr sz="950">
                <a:solidFill>
                  <a:srgbClr val="1E293B"/>
                </a:solidFill>
              </a:rPr>
              <a:t>• ONNX Runtime
• Lightweight Vision Model</a:t>
            </a:r>
          </a:p>
          <a:p>
            <a:pPr>
              <a:spcAft>
                <a:spcPts val="600"/>
              </a:spcAft>
            </a:pPr>
            <a:r>
              <a:rPr b="1" sz="950">
                <a:solidFill>
                  <a:srgbClr val="355FAC"/>
                </a:solidFill>
              </a:rPr>
              <a:t>LOCAL RUNTIME   </a:t>
            </a:r>
            <a:r>
              <a:rPr sz="950">
                <a:solidFill>
                  <a:srgbClr val="1E293B"/>
                </a:solidFill>
              </a:rPr>
              <a:t>WebAssembly • WebGPU</a:t>
            </a:r>
          </a:p>
          <a:p>
            <a:pPr>
              <a:spcAft>
                <a:spcPts val="600"/>
              </a:spcAft>
            </a:pPr>
            <a:r>
              <a:rPr b="1" sz="950">
                <a:solidFill>
                  <a:srgbClr val="355FAC"/>
                </a:solidFill>
              </a:rPr>
              <a:t>DATA   </a:t>
            </a:r>
            <a:r>
              <a:rPr sz="950">
                <a:solidFill>
                  <a:srgbClr val="1E293B"/>
                </a:solidFill>
              </a:rPr>
              <a:t>JSON • SQLite</a:t>
            </a:r>
          </a:p>
          <a:p>
            <a:pPr>
              <a:spcAft>
                <a:spcPts val="600"/>
              </a:spcAft>
            </a:pPr>
            <a:r>
              <a:rPr b="1" sz="950">
                <a:solidFill>
                  <a:srgbClr val="355FAC"/>
                </a:solidFill>
              </a:rPr>
              <a:t>VISUALIZATION   </a:t>
            </a:r>
            <a:r>
              <a:rPr sz="950">
                <a:solidFill>
                  <a:srgbClr val="1E293B"/>
                </a:solidFill>
              </a:rPr>
              <a:t>Recharts</a:t>
            </a:r>
          </a:p>
          <a:p>
            <a:pPr>
              <a:spcAft>
                <a:spcPts val="600"/>
              </a:spcAft>
            </a:pPr>
            <a:r>
              <a:rPr b="1" sz="950">
                <a:solidFill>
                  <a:srgbClr val="355FAC"/>
                </a:solidFill>
              </a:rPr>
              <a:t>TESTING   </a:t>
            </a:r>
            <a:r>
              <a:rPr sz="950">
                <a:solidFill>
                  <a:srgbClr val="1E293B"/>
                </a:solidFill>
              </a:rPr>
              <a:t>Unit • Integration • E2E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5486400"/>
            <a:ext cx="3200400" cy="41148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1E293B"/>
                </a:solidFill>
              </a:defRPr>
            </a:pPr>
            <a:r>
              <a:t>CPU-first • Optional GPU acceleration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097280"/>
            <a:ext cx="731520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182880" wrap="square"/>
          <a:lstStyle/>
          <a:p>
            <a:pPr algn="ctr">
              <a:spcAft>
                <a:spcPts val="1200"/>
              </a:spcAft>
              <a:defRPr sz="1300" b="1">
                <a:solidFill>
                  <a:srgbClr val="102C57"/>
                </a:solidFill>
              </a:defRPr>
            </a:pPr>
            <a:r>
              <a:t>METHODOLOGY &amp; IMPLEMENTATION PROCESS</a:t>
            </a:r>
          </a:p>
          <a:p>
            <a:pPr>
              <a:spcAft>
                <a:spcPts val="700"/>
              </a:spcAft>
            </a:pPr>
            <a:r>
              <a:rPr b="1" sz="1000">
                <a:solidFill>
                  <a:srgbClr val="1E64B4"/>
                </a:solidFill>
              </a:rPr>
              <a:t> (01)  USER TASK : </a:t>
            </a:r>
            <a:r>
              <a:rPr sz="950">
                <a:solidFill>
                  <a:srgbClr val="1E293B"/>
                </a:solidFill>
              </a:rPr>
              <a:t>Natural-language task input   |   </a:t>
            </a:r>
            <a:r>
              <a:rPr b="1" sz="1000">
                <a:solidFill>
                  <a:srgbClr val="1E64B4"/>
                </a:solidFill>
              </a:rPr>
              <a:t>(06)  PRIVACY GUARD : </a:t>
            </a:r>
            <a:r>
              <a:rPr sz="950">
                <a:solidFill>
                  <a:srgbClr val="1E293B"/>
                </a:solidFill>
              </a:rPr>
              <a:t>Detect and protect sensitive data</a:t>
            </a:r>
          </a:p>
          <a:p>
            <a:pPr>
              <a:spcAft>
                <a:spcPts val="700"/>
              </a:spcAft>
            </a:pPr>
            <a:r>
              <a:rPr b="1" sz="1000">
                <a:solidFill>
                  <a:srgbClr val="1E64B4"/>
                </a:solidFill>
              </a:rPr>
              <a:t> (02)  REAL BROWSER : </a:t>
            </a:r>
            <a:r>
              <a:rPr sz="950">
                <a:solidFill>
                  <a:srgbClr val="1E293B"/>
                </a:solidFill>
              </a:rPr>
              <a:t>Playwright opens the local demo   |   </a:t>
            </a:r>
            <a:r>
              <a:rPr b="1" sz="1000">
                <a:solidFill>
                  <a:srgbClr val="1E64B4"/>
                </a:solidFill>
              </a:rPr>
              <a:t>(07)  AGENT PLANNER : </a:t>
            </a:r>
            <a:r>
              <a:rPr sz="950">
                <a:solidFill>
                  <a:srgbClr val="1E293B"/>
                </a:solidFill>
              </a:rPr>
              <a:t>Match intent with detected elements</a:t>
            </a:r>
          </a:p>
          <a:p>
            <a:pPr>
              <a:spcAft>
                <a:spcPts val="700"/>
              </a:spcAft>
            </a:pPr>
            <a:r>
              <a:rPr b="1" sz="1000">
                <a:solidFill>
                  <a:srgbClr val="1E64B4"/>
                </a:solidFill>
              </a:rPr>
              <a:t> (03)  SCREENSHOT : </a:t>
            </a:r>
            <a:r>
              <a:rPr sz="950">
                <a:solidFill>
                  <a:srgbClr val="1E293B"/>
                </a:solidFill>
              </a:rPr>
              <a:t>Capture current viewport   |   </a:t>
            </a:r>
            <a:r>
              <a:rPr b="1" sz="1000">
                <a:solidFill>
                  <a:srgbClr val="1E64B4"/>
                </a:solidFill>
              </a:rPr>
              <a:t>(08)  SAFE ACTION : </a:t>
            </a:r>
            <a:r>
              <a:rPr sz="950">
                <a:solidFill>
                  <a:srgbClr val="1E293B"/>
                </a:solidFill>
              </a:rPr>
              <a:t>Execute through Playwright</a:t>
            </a:r>
          </a:p>
          <a:p>
            <a:pPr>
              <a:spcAft>
                <a:spcPts val="700"/>
              </a:spcAft>
            </a:pPr>
            <a:r>
              <a:rPr b="1" sz="1000">
                <a:solidFill>
                  <a:srgbClr val="1E64B4"/>
                </a:solidFill>
              </a:rPr>
              <a:t> (04)  LOCAL VISION : </a:t>
            </a:r>
            <a:r>
              <a:rPr sz="950">
                <a:solidFill>
                  <a:srgbClr val="1E293B"/>
                </a:solidFill>
              </a:rPr>
              <a:t>Detect UI elements on-device   |   </a:t>
            </a:r>
            <a:r>
              <a:rPr b="1" sz="1000">
                <a:solidFill>
                  <a:srgbClr val="1E64B4"/>
                </a:solidFill>
              </a:rPr>
              <a:t>(09)  VERIFY : </a:t>
            </a:r>
            <a:r>
              <a:rPr sz="950">
                <a:solidFill>
                  <a:srgbClr val="1E293B"/>
                </a:solidFill>
              </a:rPr>
              <a:t>Check the new page state</a:t>
            </a:r>
          </a:p>
          <a:p>
            <a:pPr>
              <a:spcAft>
                <a:spcPts val="700"/>
              </a:spcAft>
            </a:pPr>
            <a:r>
              <a:rPr b="1" sz="1000">
                <a:solidFill>
                  <a:srgbClr val="1E64B4"/>
                </a:solidFill>
              </a:rPr>
              <a:t> (05)  UI JSON : </a:t>
            </a:r>
            <a:r>
              <a:rPr sz="950">
                <a:solidFill>
                  <a:srgbClr val="1E293B"/>
                </a:solidFill>
              </a:rPr>
              <a:t>Type • label • bbox • confidence   |   </a:t>
            </a:r>
            <a:r>
              <a:rPr b="1" sz="1000">
                <a:solidFill>
                  <a:srgbClr val="1E64B4"/>
                </a:solidFill>
              </a:rPr>
              <a:t>(10)  RECOVER : </a:t>
            </a:r>
            <a:r>
              <a:rPr sz="950">
                <a:solidFill>
                  <a:srgbClr val="1E293B"/>
                </a:solidFill>
              </a:rPr>
              <a:t>Re-perceive and retry when needed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5623560"/>
            <a:ext cx="7315200" cy="41148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02C57"/>
                </a:solidFill>
              </a:defRPr>
            </a:pPr>
            <a:r>
              <a:t>TASK → BROWSER → SCREENSHOT → VISION → JSON → PRIVACY → PLAN → ACT → VERIFY → RECOVER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84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rIns="548640" tIns="27432"/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@SIH Idea submission- Template                                                                                                                                                                              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2011680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2000" b="1">
                <a:solidFill>
                  <a:srgbClr val="102C57"/>
                </a:solidFill>
              </a:defRPr>
            </a:pPr>
            <a:r>
              <a:t>NEXORA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0" y="320040"/>
            <a:ext cx="6705295" cy="5486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2400" b="1">
                <a:solidFill>
                  <a:srgbClr val="102C57"/>
                </a:solidFill>
              </a:defRPr>
            </a:pPr>
            <a:r>
              <a:t>PERCEPTA FEASIBILITY AND VIABILITY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228600"/>
            <a:ext cx="2011680" cy="7315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 b="1">
                <a:solidFill>
                  <a:srgbClr val="102C57"/>
                </a:solidFill>
              </a:defRPr>
            </a:pPr>
            <a:r>
              <a:t>SMART INDIA</a:t>
            </a:r>
          </a:p>
          <a:p>
            <a:pPr algn="r">
              <a:defRPr sz="1100" b="1">
                <a:solidFill>
                  <a:srgbClr val="102C57"/>
                </a:solidFill>
              </a:defRPr>
            </a:pPr>
            <a:r>
              <a:t>HACKATHON</a:t>
            </a:r>
          </a:p>
          <a:p>
            <a:pPr algn="r">
              <a:defRPr sz="1100" b="1">
                <a:solidFill>
                  <a:srgbClr val="102C57"/>
                </a:solidFill>
              </a:defRPr>
            </a:pPr>
            <a:r>
              <a:t>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i="1">
                <a:solidFill>
                  <a:srgbClr val="64748B"/>
                </a:solidFill>
              </a:defRPr>
            </a:pPr>
            <a:r>
              <a:t>A practical architecture built around local perception, real browser automation and measurable execution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63040"/>
            <a:ext cx="352044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228600" wrap="square"/>
          <a:lstStyle/>
          <a:p>
            <a:pPr algn="ctr">
              <a:spcAft>
                <a:spcPts val="1200"/>
              </a:spcAft>
              <a:defRPr sz="1600" b="1">
                <a:solidFill>
                  <a:srgbClr val="355FAC"/>
                </a:solidFill>
              </a:defRPr>
            </a:pPr>
            <a:r>
              <a:t>1. FEASIBILITY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102C57"/>
                </a:solidFill>
              </a:rPr>
              <a:t>•  Mature stack
</a:t>
            </a:r>
            <a:r>
              <a:rPr sz="1000">
                <a:solidFill>
                  <a:srgbClr val="64748B"/>
                </a:solidFill>
              </a:rPr>
              <a:t>    React, Node.js, Playwright and ONNX Runtime are well suited to the prototype.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102C57"/>
                </a:solidFill>
              </a:rPr>
              <a:t>•  Local-first
</a:t>
            </a:r>
            <a:r>
              <a:rPr sz="1000">
                <a:solidFill>
                  <a:srgbClr val="64748B"/>
                </a:solidFill>
              </a:rPr>
              <a:t>    Controlled demo sites reduce dependence on unstable external services.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102C57"/>
                </a:solidFill>
              </a:rPr>
              <a:t>•  Lightweight AI
</a:t>
            </a:r>
            <a:r>
              <a:rPr sz="1000">
                <a:solidFill>
                  <a:srgbClr val="64748B"/>
                </a:solidFill>
              </a:rPr>
              <a:t>    Compact local models target CPU-friendly inference and low latency.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102C57"/>
                </a:solidFill>
              </a:rPr>
              <a:t>•  Modular design
</a:t>
            </a:r>
            <a:r>
              <a:rPr sz="1000">
                <a:solidFill>
                  <a:srgbClr val="64748B"/>
                </a:solidFill>
              </a:rPr>
              <a:t>    Perception, privacy, planning and execution can be tested independently.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88536" y="1463040"/>
            <a:ext cx="352044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228600" wrap="square"/>
          <a:lstStyle/>
          <a:p>
            <a:pPr algn="ctr">
              <a:spcAft>
                <a:spcPts val="1200"/>
              </a:spcAft>
              <a:defRPr sz="1600" b="1">
                <a:solidFill>
                  <a:srgbClr val="C2410C"/>
                </a:solidFill>
              </a:defRPr>
            </a:pPr>
            <a:r>
              <a:t>2. CHALLENGES &amp; RISKS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102C57"/>
                </a:solidFill>
              </a:rPr>
              <a:t>•  Dynamic pages
</a:t>
            </a:r>
            <a:r>
              <a:rPr sz="1000">
                <a:solidFill>
                  <a:srgbClr val="64748B"/>
                </a:solidFill>
              </a:rPr>
              <a:t>    Layouts and visual patterns can change dynamically.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102C57"/>
                </a:solidFill>
              </a:rPr>
              <a:t>•  Model limits
</a:t>
            </a:r>
            <a:r>
              <a:rPr sz="1000">
                <a:solidFill>
                  <a:srgbClr val="64748B"/>
                </a:solidFill>
              </a:rPr>
              <a:t>    Small models may trade accuracy for speed.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102C57"/>
                </a:solidFill>
              </a:rPr>
              <a:t>•  Execution failures
</a:t>
            </a:r>
            <a:r>
              <a:rPr sz="1000">
                <a:solidFill>
                  <a:srgbClr val="64748B"/>
                </a:solidFill>
              </a:rPr>
              <a:t>    Targets may disappear or actions may fail.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102C57"/>
                </a:solidFill>
              </a:rPr>
              <a:t>•  Hardware limits
</a:t>
            </a:r>
            <a:r>
              <a:rPr sz="1000">
                <a:solidFill>
                  <a:srgbClr val="64748B"/>
                </a:solidFill>
              </a:rPr>
              <a:t>    CPU/RAM availability affects local inference.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28432" y="1463040"/>
            <a:ext cx="352044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228600" wrap="square"/>
          <a:lstStyle/>
          <a:p>
            <a:pPr algn="ctr">
              <a:spcAft>
                <a:spcPts val="1200"/>
              </a:spcAft>
              <a:defRPr sz="1600" b="1">
                <a:solidFill>
                  <a:srgbClr val="10956A"/>
                </a:solidFill>
              </a:defRPr>
            </a:pPr>
            <a:r>
              <a:t>3. MITIGATION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102C57"/>
                </a:solidFill>
              </a:rPr>
              <a:t>•  Vision + DOM Hybrid
</a:t>
            </a:r>
            <a:r>
              <a:rPr sz="1000">
                <a:solidFill>
                  <a:srgbClr val="64748B"/>
                </a:solidFill>
              </a:rPr>
              <a:t>    Cross-check visual and browser information.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102C57"/>
                </a:solidFill>
              </a:rPr>
              <a:t>•  Confidence &amp; safety
</a:t>
            </a:r>
            <a:r>
              <a:rPr sz="1000">
                <a:solidFill>
                  <a:srgbClr val="64748B"/>
                </a:solidFill>
              </a:rPr>
              <a:t>    Use thresholds and confirmation for risky actions.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102C57"/>
                </a:solidFill>
              </a:rPr>
              <a:t>•  Self-correction
</a:t>
            </a:r>
            <a:r>
              <a:rPr sz="1000">
                <a:solidFill>
                  <a:srgbClr val="64748B"/>
                </a:solidFill>
              </a:rPr>
              <a:t>    Re-perceive, select alternative and retry with limits.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102C57"/>
                </a:solidFill>
              </a:rPr>
              <a:t>•  Real benchmarking
</a:t>
            </a:r>
            <a:r>
              <a:rPr sz="1000">
                <a:solidFill>
                  <a:srgbClr val="64748B"/>
                </a:solidFill>
              </a:rPr>
              <a:t>    Measure latency, P50/P95, memory and model size at runtime.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6080760"/>
            <a:ext cx="11094415" cy="347472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102C57"/>
                </a:solidFill>
              </a:defRPr>
            </a:pPr>
            <a:r>
              <a:t>VIABLE → LOCAL VISION → PRIVACY → SAFE ACTIONS → VERIFICATION → OFFLINE SUPPORT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84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rIns="548640" tIns="27432"/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@SIH Idea submission- Template                                                                                                                                                                              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2011680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2000" b="1">
                <a:solidFill>
                  <a:srgbClr val="102C57"/>
                </a:solidFill>
              </a:defRPr>
            </a:pPr>
            <a:r>
              <a:t>NEXORA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0" y="320040"/>
            <a:ext cx="6705295" cy="5486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2400" b="1">
                <a:solidFill>
                  <a:srgbClr val="102C57"/>
                </a:solidFill>
              </a:defRPr>
            </a:pPr>
            <a:r>
              <a:t>PERCEPTA IMPACT AND BENEFITS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228600"/>
            <a:ext cx="2011680" cy="7315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 b="1">
                <a:solidFill>
                  <a:srgbClr val="102C57"/>
                </a:solidFill>
              </a:defRPr>
            </a:pPr>
            <a:r>
              <a:t>SMART INDIA</a:t>
            </a:r>
          </a:p>
          <a:p>
            <a:pPr algn="r">
              <a:defRPr sz="1100" b="1">
                <a:solidFill>
                  <a:srgbClr val="102C57"/>
                </a:solidFill>
              </a:defRPr>
            </a:pPr>
            <a:r>
              <a:t>HACKATHON</a:t>
            </a:r>
          </a:p>
          <a:p>
            <a:pPr algn="r">
              <a:defRPr sz="1100" b="1">
                <a:solidFill>
                  <a:srgbClr val="102C57"/>
                </a:solidFill>
              </a:defRPr>
            </a:pPr>
            <a:r>
              <a:t>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i="1">
                <a:solidFill>
                  <a:srgbClr val="64748B"/>
                </a:solidFill>
              </a:defRPr>
            </a:pPr>
            <a:r>
              <a:t>PERCEPTA delivers practical benefits through local visual understanding and safe browser automation.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63040"/>
            <a:ext cx="352044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274320" wrap="square"/>
          <a:lstStyle/>
          <a:p>
            <a:pPr algn="ctr">
              <a:spcAft>
                <a:spcPts val="1800"/>
              </a:spcAft>
              <a:defRPr sz="1600" b="1">
                <a:solidFill>
                  <a:srgbClr val="355FAC"/>
                </a:solidFill>
              </a:defRPr>
            </a:pPr>
            <a:r>
              <a:t>USER BENEFITS</a:t>
            </a:r>
          </a:p>
          <a:p>
            <a:pPr>
              <a:spcAft>
                <a:spcPts val="1400"/>
              </a:spcAft>
              <a:defRPr sz="1200">
                <a:solidFill>
                  <a:srgbClr val="1E293B"/>
                </a:solidFill>
              </a:defRPr>
            </a:pPr>
            <a:r>
              <a:t>•  Natural-language task execution</a:t>
            </a:r>
          </a:p>
          <a:p>
            <a:pPr>
              <a:spcAft>
                <a:spcPts val="1400"/>
              </a:spcAft>
              <a:defRPr sz="1200">
                <a:solidFill>
                  <a:srgbClr val="1E293B"/>
                </a:solidFill>
              </a:defRPr>
            </a:pPr>
            <a:r>
              <a:t>•  Simple and clear browser interaction</a:t>
            </a:r>
          </a:p>
          <a:p>
            <a:pPr>
              <a:spcAft>
                <a:spcPts val="1400"/>
              </a:spcAft>
              <a:defRPr sz="1200">
                <a:solidFill>
                  <a:srgbClr val="1E293B"/>
                </a:solidFill>
              </a:defRPr>
            </a:pPr>
            <a:r>
              <a:t>•  Visible progress and action status</a:t>
            </a:r>
          </a:p>
          <a:p>
            <a:pPr>
              <a:spcAft>
                <a:spcPts val="1400"/>
              </a:spcAft>
              <a:defRPr sz="1200">
                <a:solidFill>
                  <a:srgbClr val="1E293B"/>
                </a:solidFill>
              </a:defRPr>
            </a:pPr>
            <a:r>
              <a:t>•  Verified task completion</a:t>
            </a:r>
          </a:p>
          <a:p>
            <a:pPr>
              <a:spcAft>
                <a:spcPts val="1400"/>
              </a:spcAft>
              <a:defRPr sz="1200">
                <a:solidFill>
                  <a:srgbClr val="1E293B"/>
                </a:solidFill>
              </a:defRPr>
            </a:pPr>
            <a:r>
              <a:t>•  Transparent confidence scoring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88536" y="1463040"/>
            <a:ext cx="352044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274320" wrap="square"/>
          <a:lstStyle/>
          <a:p>
            <a:pPr algn="ctr">
              <a:spcAft>
                <a:spcPts val="1800"/>
              </a:spcAft>
              <a:defRPr sz="1600" b="1">
                <a:solidFill>
                  <a:srgbClr val="355FAC"/>
                </a:solidFill>
              </a:defRPr>
            </a:pPr>
            <a:r>
              <a:t>TECHNICAL BENEFITS</a:t>
            </a:r>
          </a:p>
          <a:p>
            <a:pPr>
              <a:spcAft>
                <a:spcPts val="1400"/>
              </a:spcAft>
              <a:defRPr sz="1200">
                <a:solidFill>
                  <a:srgbClr val="1E293B"/>
                </a:solidFill>
              </a:defRPr>
            </a:pPr>
            <a:r>
              <a:t>•  Local visual perception</a:t>
            </a:r>
          </a:p>
          <a:p>
            <a:pPr>
              <a:spcAft>
                <a:spcPts val="1400"/>
              </a:spcAft>
              <a:defRPr sz="1200">
                <a:solidFill>
                  <a:srgbClr val="1E293B"/>
                </a:solidFill>
              </a:defRPr>
            </a:pPr>
            <a:r>
              <a:t>•  Vision + DOM hybrid approach</a:t>
            </a:r>
          </a:p>
          <a:p>
            <a:pPr>
              <a:spcAft>
                <a:spcPts val="1400"/>
              </a:spcAft>
              <a:defRPr sz="1200">
                <a:solidFill>
                  <a:srgbClr val="1E293B"/>
                </a:solidFill>
              </a:defRPr>
            </a:pPr>
            <a:r>
              <a:t>•  Reduced selector dependency</a:t>
            </a:r>
          </a:p>
          <a:p>
            <a:pPr>
              <a:spcAft>
                <a:spcPts val="1400"/>
              </a:spcAft>
              <a:defRPr sz="1200">
                <a:solidFill>
                  <a:srgbClr val="1E293B"/>
                </a:solidFill>
              </a:defRPr>
            </a:pPr>
            <a:r>
              <a:t>•  Lightweight and offline-capable</a:t>
            </a:r>
          </a:p>
          <a:p>
            <a:pPr>
              <a:spcAft>
                <a:spcPts val="1400"/>
              </a:spcAft>
              <a:defRPr sz="1200">
                <a:solidFill>
                  <a:srgbClr val="1E293B"/>
                </a:solidFill>
              </a:defRPr>
            </a:pPr>
            <a:r>
              <a:t>•  Deterministic reproducible actions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28432" y="1463040"/>
            <a:ext cx="352044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274320" wrap="square"/>
          <a:lstStyle/>
          <a:p>
            <a:pPr algn="ctr">
              <a:spcAft>
                <a:spcPts val="1800"/>
              </a:spcAft>
              <a:defRPr sz="1600" b="1">
                <a:solidFill>
                  <a:srgbClr val="355FAC"/>
                </a:solidFill>
              </a:defRPr>
            </a:pPr>
            <a:r>
              <a:t>PRIVACY &amp; RELIABILITY</a:t>
            </a:r>
          </a:p>
          <a:p>
            <a:pPr>
              <a:spcAft>
                <a:spcPts val="1400"/>
              </a:spcAft>
              <a:defRPr sz="1200">
                <a:solidFill>
                  <a:srgbClr val="1E293B"/>
                </a:solidFill>
              </a:defRPr>
            </a:pPr>
            <a:r>
              <a:t>•  Local PII detection and redaction</a:t>
            </a:r>
          </a:p>
          <a:p>
            <a:pPr>
              <a:spcAft>
                <a:spcPts val="1400"/>
              </a:spcAft>
              <a:defRPr sz="1200">
                <a:solidFill>
                  <a:srgbClr val="1E293B"/>
                </a:solidFill>
              </a:defRPr>
            </a:pPr>
            <a:r>
              <a:t>•  Reduced remote data transfer (0 calls)</a:t>
            </a:r>
          </a:p>
          <a:p>
            <a:pPr>
              <a:spcAft>
                <a:spcPts val="1400"/>
              </a:spcAft>
              <a:defRPr sz="1200">
                <a:solidFill>
                  <a:srgbClr val="1E293B"/>
                </a:solidFill>
              </a:defRPr>
            </a:pPr>
            <a:r>
              <a:t>•  Safety confirmation for risky actions</a:t>
            </a:r>
          </a:p>
          <a:p>
            <a:pPr>
              <a:spcAft>
                <a:spcPts val="1400"/>
              </a:spcAft>
              <a:defRPr sz="1200">
                <a:solidFill>
                  <a:srgbClr val="1E293B"/>
                </a:solidFill>
              </a:defRPr>
            </a:pPr>
            <a:r>
              <a:t>•  Verification and self-correction</a:t>
            </a:r>
          </a:p>
          <a:p>
            <a:pPr>
              <a:spcAft>
                <a:spcPts val="1400"/>
              </a:spcAft>
              <a:defRPr sz="1200">
                <a:solidFill>
                  <a:srgbClr val="1E293B"/>
                </a:solidFill>
              </a:defRPr>
            </a:pPr>
            <a:r>
              <a:t>•  Air-gap &amp; restricted network ready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28800" y="5943600"/>
            <a:ext cx="8534095" cy="438912"/>
          </a:xfrm>
          <a:prstGeom prst="roundRect">
            <a:avLst/>
          </a:prstGeom>
          <a:solidFill>
            <a:srgbClr val="184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SEE LOCALLY  •  ACT SAFELY  •  VERIFY RESULTS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84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rIns="548640" tIns="27432"/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@SIH Idea submission- Template                                                                                                                                                                              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2011680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2000" b="1">
                <a:solidFill>
                  <a:srgbClr val="102C57"/>
                </a:solidFill>
              </a:defRPr>
            </a:pPr>
            <a:r>
              <a:t>NEXORA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0" y="320040"/>
            <a:ext cx="6705295" cy="5486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2400" b="1">
                <a:solidFill>
                  <a:srgbClr val="102C57"/>
                </a:solidFill>
              </a:defRPr>
            </a:pPr>
            <a:r>
              <a:t>RESEARCH AND 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228600"/>
            <a:ext cx="2011680" cy="7315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 b="1">
                <a:solidFill>
                  <a:srgbClr val="102C57"/>
                </a:solidFill>
              </a:defRPr>
            </a:pPr>
            <a:r>
              <a:t>SMART INDIA</a:t>
            </a:r>
          </a:p>
          <a:p>
            <a:pPr algn="r">
              <a:defRPr sz="1100" b="1">
                <a:solidFill>
                  <a:srgbClr val="102C57"/>
                </a:solidFill>
              </a:defRPr>
            </a:pPr>
            <a:r>
              <a:t>HACKATHON</a:t>
            </a:r>
          </a:p>
          <a:p>
            <a:pPr algn="r">
              <a:defRPr sz="1100" b="1">
                <a:solidFill>
                  <a:srgbClr val="102C57"/>
                </a:solidFill>
              </a:defRPr>
            </a:pPr>
            <a:r>
              <a:t>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80160"/>
            <a:ext cx="11094415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rIns="548640" tIns="365760" wrap="square"/>
          <a:lstStyle/>
          <a:p>
            <a:pPr algn="ctr">
              <a:spcAft>
                <a:spcPts val="1400"/>
              </a:spcAft>
            </a:pPr>
            <a:r>
              <a:rPr b="1" sz="1300">
                <a:solidFill>
                  <a:srgbClr val="1E293B"/>
                </a:solidFill>
              </a:rPr>
              <a:t>•   ONNX Runtime Web – On-Device AI Inference   </a:t>
            </a:r>
            <a:r>
              <a:rPr sz="1200" u="sng">
                <a:solidFill>
                  <a:srgbClr val="355FAC"/>
                </a:solidFill>
              </a:rPr>
              <a:t>https://onnxruntime.ai/docs/tutorials/web/</a:t>
            </a:r>
          </a:p>
          <a:p>
            <a:pPr>
              <a:spcAft>
                <a:spcPts val="1400"/>
              </a:spcAft>
            </a:pPr>
            <a:r>
              <a:rPr b="1" sz="1300">
                <a:solidFill>
                  <a:srgbClr val="1E293B"/>
                </a:solidFill>
              </a:rPr>
              <a:t>•   ONNX Runtime Web – WebGPU Acceleration   </a:t>
            </a:r>
            <a:r>
              <a:rPr sz="1200" u="sng">
                <a:solidFill>
                  <a:srgbClr val="355FAC"/>
                </a:solidFill>
              </a:rPr>
              <a:t>https://onnxruntime.ai/docs/tutorials/web/ep-webgpu.html</a:t>
            </a:r>
          </a:p>
          <a:p>
            <a:pPr>
              <a:spcAft>
                <a:spcPts val="1400"/>
              </a:spcAft>
            </a:pPr>
            <a:r>
              <a:rPr b="1" sz="1300">
                <a:solidFill>
                  <a:srgbClr val="1E293B"/>
                </a:solidFill>
              </a:rPr>
              <a:t>•   Playwright – Browser Automation   </a:t>
            </a:r>
            <a:r>
              <a:rPr sz="1200" u="sng">
                <a:solidFill>
                  <a:srgbClr val="355FAC"/>
                </a:solidFill>
              </a:rPr>
              <a:t>https://playwright.dev/docs/intro</a:t>
            </a:r>
          </a:p>
          <a:p>
            <a:pPr>
              <a:spcAft>
                <a:spcPts val="1400"/>
              </a:spcAft>
            </a:pPr>
            <a:r>
              <a:rPr b="1" sz="1300">
                <a:solidFill>
                  <a:srgbClr val="1E293B"/>
                </a:solidFill>
              </a:rPr>
              <a:t>•   MDN – WebGPU API   </a:t>
            </a:r>
            <a:r>
              <a:rPr sz="1200" u="sng">
                <a:solidFill>
                  <a:srgbClr val="355FAC"/>
                </a:solidFill>
              </a:rPr>
              <a:t>https://developer.mozilla.org/en-US/docs/Web/API/WebGPU_API</a:t>
            </a:r>
          </a:p>
          <a:p>
            <a:pPr>
              <a:spcAft>
                <a:spcPts val="1400"/>
              </a:spcAft>
            </a:pPr>
            <a:r>
              <a:rPr b="1" sz="1300">
                <a:solidFill>
                  <a:srgbClr val="1E293B"/>
                </a:solidFill>
              </a:rPr>
              <a:t>•   UGround – Universal Visual Grounding for GUI Agents   </a:t>
            </a:r>
            <a:r>
              <a:rPr sz="1200" u="sng">
                <a:solidFill>
                  <a:srgbClr val="355FAC"/>
                </a:solidFill>
              </a:rPr>
              <a:t>UGround Research &amp; Code</a:t>
            </a:r>
          </a:p>
          <a:p>
            <a:pPr>
              <a:spcAft>
                <a:spcPts val="1400"/>
              </a:spcAft>
            </a:pPr>
            <a:r>
              <a:rPr b="1" sz="1300">
                <a:solidFill>
                  <a:srgbClr val="1E293B"/>
                </a:solidFill>
              </a:rPr>
              <a:t>•   Aria-UI – Visual Grounding for GUI Instructions   </a:t>
            </a:r>
            <a:r>
              <a:rPr sz="1200" u="sng">
                <a:solidFill>
                  <a:srgbClr val="355FAC"/>
                </a:solidFill>
              </a:rPr>
              <a:t>Aria-UI Research Paper</a:t>
            </a:r>
          </a:p>
          <a:p>
            <a:pPr>
              <a:spcAft>
                <a:spcPts val="1400"/>
              </a:spcAft>
            </a:pPr>
            <a:r>
              <a:rPr b="1" sz="1300">
                <a:solidFill>
                  <a:srgbClr val="1E293B"/>
                </a:solidFill>
              </a:rPr>
              <a:t>•   GUI-Eyes – Tool-Augmented Perception for GUI Agents   </a:t>
            </a:r>
            <a:r>
              <a:rPr sz="1200" u="sng">
                <a:solidFill>
                  <a:srgbClr val="355FAC"/>
                </a:solidFill>
              </a:rPr>
              <a:t>GUI-Eyes Research Paper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84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rIns="548640" tIns="27432"/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@SIH Idea submission- Template                                                                                                                                                                               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