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2C57"/>
                </a:solidFill>
              </a:defRPr>
            </a:pPr>
            <a:r>
              <a:t>SMART INDIA HACKATHON 2026</a:t>
            </a:r>
          </a:p>
          <a:p>
            <a:pPr algn="ctr">
              <a:defRPr sz="2200" b="1">
                <a:solidFill>
                  <a:srgbClr val="355FAC"/>
                </a:solidFill>
              </a:defRPr>
            </a:pPr>
            <a:r>
              <a:t>TITLE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59436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•  Problem Statement ID : </a:t>
            </a:r>
            <a:r>
              <a:rPr i="0" sz="1300">
                <a:solidFill>
                  <a:srgbClr val="1E293B"/>
                </a:solidFill>
              </a:rPr>
              <a:t>SIH26171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•  Problem Statement Title : </a:t>
            </a:r>
            <a:r>
              <a:rPr i="1" sz="1300">
                <a:solidFill>
                  <a:srgbClr val="1E293B"/>
                </a:solidFill>
              </a:rPr>
              <a:t>On-device Visual Perception for Light-weight Browser Agents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•  Theme : </a:t>
            </a:r>
            <a:r>
              <a:rPr i="0" sz="1300">
                <a:solidFill>
                  <a:srgbClr val="1E293B"/>
                </a:solidFill>
              </a:rPr>
              <a:t>Miscellaneous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•  PS Category : </a:t>
            </a:r>
            <a:r>
              <a:rPr i="0" sz="13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•  Organisation : </a:t>
            </a:r>
            <a:r>
              <a:rPr i="0" sz="1300">
                <a:solidFill>
                  <a:srgbClr val="1E293B"/>
                </a:solidFill>
              </a:rPr>
              <a:t>Indian Space Research Organisation (ISRO)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•  Department : </a:t>
            </a:r>
            <a:r>
              <a:rPr i="0" sz="1300">
                <a:solidFill>
                  <a:srgbClr val="1E293B"/>
                </a:solidFill>
              </a:rPr>
              <a:t>Department of Space / ISRO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•  Team Name : </a:t>
            </a:r>
            <a:r>
              <a:rPr i="0" sz="1300">
                <a:solidFill>
                  <a:srgbClr val="1E293B"/>
                </a:solidFill>
              </a:rPr>
              <a:t>NEXORA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•  Project Prototype : </a:t>
            </a:r>
            <a:r>
              <a:rPr i="0" sz="1300">
                <a:solidFill>
                  <a:srgbClr val="1E293B"/>
                </a:solidFill>
              </a:rPr>
              <a:t>PERCEPTA ("See the Web. Understand Locally. Act Safely.")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2011680"/>
            <a:ext cx="4389120" cy="4114800"/>
          </a:xfrm>
          <a:prstGeom prst="roundRect">
            <a:avLst/>
          </a:prstGeom>
          <a:solidFill>
            <a:srgbClr val="102C57"/>
          </a:solidFill>
          <a:ln w="1905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457200"/>
          <a:lstStyle/>
          <a:p>
            <a:pPr algn="ctr">
              <a:defRPr sz="3000" b="1">
                <a:solidFill>
                  <a:srgbClr val="00A8CC"/>
                </a:solidFill>
              </a:defRPr>
            </a:pPr>
            <a:r>
              <a:t>PERCEPTA</a:t>
            </a:r>
          </a:p>
          <a:p>
            <a:pPr algn="ctr">
              <a:spcAft>
                <a:spcPts val="2000"/>
              </a:spcAft>
              <a:defRPr sz="1200">
                <a:solidFill>
                  <a:srgbClr val="FFFFFF"/>
                </a:solidFill>
              </a:defRPr>
            </a:pPr>
            <a:r>
              <a:t>Autonomous Browser Agent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✓ 100% On-Device Visual Perception (CPU-First)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✓ 5-Factor Hybrid Perception Scoring Fusion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✓ Privacy Guard &amp; Client-Side PII Masking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✓ Playwright Safe Automation &amp; Self-Correction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✓ Zero Cloud LLM / Zero External API Dependency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✓ Verified State Delta &amp; Human-in-Loop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55FAC"/>
                </a:solidFill>
              </a:defRPr>
            </a:pPr>
            <a:r>
              <a:t>NEXORA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IDEA TITLE: PERCEPTA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20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 HACKATHON 2026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Problem: SIH26171 | ISRO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Proposed Solution — "See the Web. Understand Locally. Act Safely."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4526280"/>
          </a:xfrm>
          <a:prstGeom prst="roundRect">
            <a:avLst/>
          </a:prstGeom>
          <a:solidFill>
            <a:srgbClr val="28304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Explanation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👁️  Visually detects webpage elements (buttons, inputs, cards, links) on CPU.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🧠  Understands natural language user tasks with local entity intent parsing.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⚡  Processes visual perception 100% locally on-device in 10-18ms.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📐  Extracts deep DOM structure, accessibility roles, and bounding rectangles.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⚖️  Fuses signals via 5-Factor Hybrid Score (Visual, DOM, Text, Position, Semantic).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🛡️  Protects sensitive user data with local PII detection &amp; masking.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🤖  Performs browser actions safely via Playwright using hybrid coordinates.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✅  Verifies post-action state delta with automated self-correction (max 2 retries).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691640"/>
            <a:ext cx="3429000" cy="4526280"/>
          </a:xfrm>
          <a:prstGeom prst="roundRect">
            <a:avLst/>
          </a:prstGeom>
          <a:solidFill>
            <a:srgbClr val="102C57"/>
          </a:solidFill>
          <a:ln w="1270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Problem Addressed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🔗  Reduces dependency on fragile CSS/XPath selectors that break on layout changes.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☁️  Eliminates reliance on costly, slow, and privacy-invasive cloud multimodal LLMs.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🔒  Guarantees 100% user privacy; screenshots &amp; credentials never leave the machine.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🛰️  Enables air-gapped offline operation for defense and ISRO space network environments.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🛑  Prevents unintended actions through a two-tier safety classification gateway.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✅  Verifies every browser interaction with state assertion rather than blind execution.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🔄  Autonomous self-healing stops cascading automation failures gracefully.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691640"/>
            <a:ext cx="3429000" cy="4526280"/>
          </a:xfrm>
          <a:prstGeom prst="roundRect">
            <a:avLst/>
          </a:prstGeom>
          <a:solidFill>
            <a:srgbClr val="28304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Innovation &amp; Uniqueness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🚀  Local Computer Vision: Deterministic spatial contour segmentation (~12ms).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🔬  Vision + DOM Hybrid Intelligence: Cross-checks pixel coords with DOM trees.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🛡️  Zero-Leakage Privacy Guard: Client-side regex &amp; DOM sanitization (0 PII transmitted).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🛑  Safe Agentic Automation: Two-tier action gating with operator confirmation modal.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🔄  Self-Correction &amp; Recovery: Autonomous viewport re-scan upon interaction mismatch.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🪶  Lightweight &amp; Efficient: ~19% CPU load, &lt;50MB RAM, zero GPU mandate.</a:t>
            </a:r>
          </a:p>
          <a:p>
            <a:pPr>
              <a:spcAft>
                <a:spcPts val="700"/>
              </a:spcAft>
              <a:defRPr sz="1050">
                <a:solidFill>
                  <a:srgbClr val="E2E8F0"/>
                </a:solidFill>
              </a:defRPr>
            </a:pPr>
            <a:r>
              <a:t>🧪  100% Measurable Verification: 70 automated tests validating end-to-end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55FAC"/>
                </a:solidFill>
              </a:defRPr>
            </a:pPr>
            <a:r>
              <a:t>NEXORA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20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 HACKATHON 2026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Problem: SIH26171 | ISRO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9319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102C57"/>
                </a:solidFill>
              </a:defRPr>
            </a:pPr>
            <a:r>
              <a:t>TECHNOLOGIES TO BE USED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355FAC"/>
                </a:solidFill>
              </a:rPr>
              <a:t>LANGUAGES: </a:t>
            </a:r>
            <a:r>
              <a:rPr sz="950">
                <a:solidFill>
                  <a:srgbClr val="1E293B"/>
                </a:solidFill>
              </a:rPr>
              <a:t>Python • TypeScript • JavaScript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355FAC"/>
                </a:solidFill>
              </a:rPr>
              <a:t>FRONTEND: </a:t>
            </a:r>
            <a:r>
              <a:rPr sz="950">
                <a:solidFill>
                  <a:srgbClr val="1E293B"/>
                </a:solidFill>
              </a:rPr>
              <a:t>React 18 • Vite • Tailwind CSS • Lucide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355FAC"/>
                </a:solidFill>
              </a:rPr>
              <a:t>BACKEND: </a:t>
            </a:r>
            <a:r>
              <a:rPr sz="950">
                <a:solidFill>
                  <a:srgbClr val="1E293B"/>
                </a:solidFill>
              </a:rPr>
              <a:t>Node.js • Express • SSE Stream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355FAC"/>
                </a:solidFill>
              </a:rPr>
              <a:t>AUTOMATION: </a:t>
            </a:r>
            <a:r>
              <a:rPr sz="950">
                <a:solidFill>
                  <a:srgbClr val="1E293B"/>
                </a:solidFill>
              </a:rPr>
              <a:t>Playwright (Chromium Headless/Headed)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355FAC"/>
                </a:solidFill>
              </a:rPr>
              <a:t>AI / VISION: </a:t>
            </a:r>
            <a:r>
              <a:rPr sz="950">
                <a:solidFill>
                  <a:srgbClr val="1E293B"/>
                </a:solidFill>
              </a:rPr>
              <a:t>LocalDemoVisionEngine (Spatial Edge CV)
ONNX Runtime (CPU-First Adapter)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355FAC"/>
                </a:solidFill>
              </a:rPr>
              <a:t>LOCAL RUNTIME: </a:t>
            </a:r>
            <a:r>
              <a:rPr sz="950">
                <a:solidFill>
                  <a:srgbClr val="1E293B"/>
                </a:solidFill>
              </a:rPr>
              <a:t>Node.js CPU (WebAssembly / WebGPU Ready)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355FAC"/>
                </a:solidFill>
              </a:rPr>
              <a:t>DATA: </a:t>
            </a:r>
            <a:r>
              <a:rPr sz="950">
                <a:solidFill>
                  <a:srgbClr val="1E293B"/>
                </a:solidFill>
              </a:rPr>
              <a:t>Volatile Session Memory • JSON Audit Logs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355FAC"/>
                </a:solidFill>
              </a:rPr>
              <a:t>VISUALIZATION: </a:t>
            </a:r>
            <a:r>
              <a:rPr sz="950">
                <a:solidFill>
                  <a:srgbClr val="1E293B"/>
                </a:solidFill>
              </a:rPr>
              <a:t>Recharts (Real Latency &amp; Confidence Curves)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355FAC"/>
                </a:solidFill>
              </a:rPr>
              <a:t>TESTING: </a:t>
            </a:r>
            <a:r>
              <a:rPr sz="950">
                <a:solidFill>
                  <a:srgbClr val="1E293B"/>
                </a:solidFill>
              </a:rPr>
              <a:t>Jest (54 Unit Tests) + PerceptaSuite (16 Integration Tests) = 70 Automated Tests (100% Pass)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355FAC"/>
                </a:solidFill>
              </a:rPr>
              <a:t>EXECUTION: </a:t>
            </a:r>
            <a:r>
              <a:rPr sz="950">
                <a:solidFill>
                  <a:srgbClr val="1E293B"/>
                </a:solidFill>
              </a:rPr>
              <a:t>CPU-first (~19% CPU) • Optional GPU acceleration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280160"/>
            <a:ext cx="6613855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102C57"/>
                </a:solidFill>
              </a:defRPr>
            </a:pPr>
            <a:r>
              <a:t>METHODOLOGY &amp; IMPLEMENTATION PROCESS (10 STAGES)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355FAC"/>
                </a:solidFill>
              </a:rPr>
              <a:t>[01 USER TASK]  </a:t>
            </a:r>
            <a:r>
              <a:rPr sz="900">
                <a:solidFill>
                  <a:srgbClr val="1E293B"/>
                </a:solidFill>
              </a:rPr>
              <a:t>Natural-language task input from operator   |   </a:t>
            </a:r>
            <a:r>
              <a:rPr b="1" sz="950">
                <a:solidFill>
                  <a:srgbClr val="10B981"/>
                </a:solidFill>
              </a:rPr>
              <a:t>[06 PRIVACY GUARD]  </a:t>
            </a:r>
            <a:r>
              <a:rPr sz="900">
                <a:solidFill>
                  <a:srgbClr val="1E293B"/>
                </a:solidFill>
              </a:rPr>
              <a:t>Detect &amp; redact sensitive PII locally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355FAC"/>
                </a:solidFill>
              </a:rPr>
              <a:t>[02 REAL BROWSER]  </a:t>
            </a:r>
            <a:r>
              <a:rPr sz="900">
                <a:solidFill>
                  <a:srgbClr val="1E293B"/>
                </a:solidFill>
              </a:rPr>
              <a:t>Playwright launches local ISRO demo portal   |   </a:t>
            </a:r>
            <a:r>
              <a:rPr b="1" sz="950">
                <a:solidFill>
                  <a:srgbClr val="10B981"/>
                </a:solidFill>
              </a:rPr>
              <a:t>[07 AGENT PLANNER]  </a:t>
            </a:r>
            <a:r>
              <a:rPr sz="900">
                <a:solidFill>
                  <a:srgbClr val="1E293B"/>
                </a:solidFill>
              </a:rPr>
              <a:t>Match intent via 5-Factor Hybrid Scoring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355FAC"/>
                </a:solidFill>
              </a:rPr>
              <a:t>[03 SCREENSHOT]  </a:t>
            </a:r>
            <a:r>
              <a:rPr sz="900">
                <a:solidFill>
                  <a:srgbClr val="1E293B"/>
                </a:solidFill>
              </a:rPr>
              <a:t>Capture viewport into local memory buffer   |   </a:t>
            </a:r>
            <a:r>
              <a:rPr b="1" sz="950">
                <a:solidFill>
                  <a:srgbClr val="10B981"/>
                </a:solidFill>
              </a:rPr>
              <a:t>[08 SAFE ACTION]  </a:t>
            </a:r>
            <a:r>
              <a:rPr sz="900">
                <a:solidFill>
                  <a:srgbClr val="1E293B"/>
                </a:solidFill>
              </a:rPr>
              <a:t>Execute click/fill with safety modal clearance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355FAC"/>
                </a:solidFill>
              </a:rPr>
              <a:t>[04 LOCAL VISION]  </a:t>
            </a:r>
            <a:r>
              <a:rPr sz="900">
                <a:solidFill>
                  <a:srgbClr val="1E293B"/>
                </a:solidFill>
              </a:rPr>
              <a:t>Segment visual UI regions on CPU (~12ms)   |   </a:t>
            </a:r>
            <a:r>
              <a:rPr b="1" sz="950">
                <a:solidFill>
                  <a:srgbClr val="10B981"/>
                </a:solidFill>
              </a:rPr>
              <a:t>[09 VERIFY]  </a:t>
            </a:r>
            <a:r>
              <a:rPr sz="900">
                <a:solidFill>
                  <a:srgbClr val="1E293B"/>
                </a:solidFill>
              </a:rPr>
              <a:t>Assert post-action state delta &amp; URL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355FAC"/>
                </a:solidFill>
              </a:rPr>
              <a:t>[05 UI JSON]  </a:t>
            </a:r>
            <a:r>
              <a:rPr sz="900">
                <a:solidFill>
                  <a:srgbClr val="1E293B"/>
                </a:solidFill>
              </a:rPr>
              <a:t>Structured: type, label, bbox, confidence   |   </a:t>
            </a:r>
            <a:r>
              <a:rPr b="1" sz="950">
                <a:solidFill>
                  <a:srgbClr val="10B981"/>
                </a:solidFill>
              </a:rPr>
              <a:t>[10 RECOVER]  </a:t>
            </a:r>
            <a:r>
              <a:rPr sz="900">
                <a:solidFill>
                  <a:srgbClr val="1E293B"/>
                </a:solidFill>
              </a:rPr>
              <a:t>Autonomous re-perception retry if mismatch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5394960"/>
            <a:ext cx="6613855" cy="457200"/>
          </a:xfrm>
          <a:prstGeom prst="round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TASK → BROWSER → SCREENSHOT → VISION → JSON → PRIVACY → PLAN → ACT → VERIFY → RECOVER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55FAC"/>
                </a:solidFill>
              </a:defRPr>
            </a:pPr>
            <a:r>
              <a:t>NEXORA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20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 HACKATHON 2026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Problem: SIH26171 | ISRO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A practical architecture built around local perception, real browser automation and measurable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02C57"/>
                </a:solidFill>
              </a:defRPr>
            </a:pPr>
            <a:r>
              <a:t>1. FEASIBILITY</a:t>
            </a:r>
          </a:p>
          <a:p>
            <a:r>
              <a:rPr b="1" sz="1100">
                <a:solidFill>
                  <a:srgbClr val="1E293B"/>
                </a:solidFill>
              </a:rPr>
              <a:t>•  Mature Enterprise Stack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React, Node.js, Playwright, and Jest form a battle-tested and production-ready foundation.</a:t>
            </a:r>
          </a:p>
          <a:p>
            <a:r>
              <a:rPr b="1" sz="1100">
                <a:solidFill>
                  <a:srgbClr val="1E293B"/>
                </a:solidFill>
              </a:rPr>
              <a:t>•  100% Local-First System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Controlled 8-page ISRO demo testbed eliminates dependence on unstable external websites.</a:t>
            </a:r>
          </a:p>
          <a:p>
            <a:r>
              <a:rPr b="1" sz="1100">
                <a:solidFill>
                  <a:srgbClr val="1E293B"/>
                </a:solidFill>
              </a:rPr>
              <a:t>•  Lightweight AI Footprint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CPU-optimized spatial edge detection achieves low latency (10-18ms) on standard consumer laptops.</a:t>
            </a:r>
          </a:p>
          <a:p>
            <a:r>
              <a:rPr b="1" sz="1100">
                <a:solidFill>
                  <a:srgbClr val="1E293B"/>
                </a:solidFill>
              </a:rPr>
              <a:t>•  Modular Micro-Design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Perception engine, privacy guard, action planner, and Playwright executor can be tested &amp; upgraded independently.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508760"/>
            <a:ext cx="34290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2. CHALLENGES &amp; RISKS</a:t>
            </a:r>
          </a:p>
          <a:p>
            <a:r>
              <a:rPr b="1" sz="1100">
                <a:solidFill>
                  <a:srgbClr val="1E293B"/>
                </a:solidFill>
              </a:rPr>
              <a:t>•  Dynamic Web Page Layouts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Layout mutations, responsive breakpoints, and asynchronous rendering can alter element coordinates.</a:t>
            </a:r>
          </a:p>
          <a:p>
            <a:r>
              <a:rPr b="1" sz="1100">
                <a:solidFill>
                  <a:srgbClr val="1E293B"/>
                </a:solidFill>
              </a:rPr>
              <a:t>•  Model Size Constraints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Small local models must balance inference speed against fine-grained visual classification accuracy.</a:t>
            </a:r>
          </a:p>
          <a:p>
            <a:r>
              <a:rPr b="1" sz="1100">
                <a:solidFill>
                  <a:srgbClr val="1E293B"/>
                </a:solidFill>
              </a:rPr>
              <a:t>•  Execution Failures &amp; Drift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Target elements may get occluded by dynamic banners or temporary modal overlays.</a:t>
            </a:r>
          </a:p>
          <a:p>
            <a:r>
              <a:rPr b="1" sz="1100">
                <a:solidFill>
                  <a:srgbClr val="1E293B"/>
                </a:solidFill>
              </a:rPr>
              <a:t>•  Client Hardware Variations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CPU/RAM availability across diverse operator machines affects inference duration.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508760"/>
            <a:ext cx="34290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3. MITIGATION &amp; METRICS</a:t>
            </a:r>
          </a:p>
          <a:p>
            <a:r>
              <a:rPr b="1" sz="1100">
                <a:solidFill>
                  <a:srgbClr val="1E293B"/>
                </a:solidFill>
              </a:rPr>
              <a:t>•  Vision + DOM Hybrid Redundancy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Cross-checks visual pixel coordinates with DOM accessibility nodes for dual confirmation.</a:t>
            </a:r>
          </a:p>
          <a:p>
            <a:r>
              <a:rPr b="1" sz="1100">
                <a:solidFill>
                  <a:srgbClr val="1E293B"/>
                </a:solidFill>
              </a:rPr>
              <a:t>•  Confidence Gating &amp; Safety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Tiered threshold (High ≥0.90, Medium, Low) mandates human operator confirmation for risky actions.</a:t>
            </a:r>
          </a:p>
          <a:p>
            <a:r>
              <a:rPr b="1" sz="1100">
                <a:solidFill>
                  <a:srgbClr val="1E293B"/>
                </a:solidFill>
              </a:rPr>
              <a:t>•  Autonomous Self-Correction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Re-perceives viewport, recalculates alternative coordinates, and retries up to 2 times.</a:t>
            </a:r>
          </a:p>
          <a:p>
            <a:r>
              <a:rPr b="1" sz="1100">
                <a:solidFill>
                  <a:srgbClr val="1E293B"/>
                </a:solidFill>
              </a:rPr>
              <a:t>•  Proven Real Benchmarking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64748B"/>
                </a:solidFill>
              </a:rPr>
              <a:t>Verified 185ms average latency, 94% task success rate, 88% recovery rate, and 0 external cloud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97880"/>
            <a:ext cx="10728655" cy="411480"/>
          </a:xfrm>
          <a:prstGeom prst="round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VIABLE → ON-DEVICE VISION → LOCAL PRIVACY → SAFE ACTIONS → VERIFICATION → OFFLINE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55FAC"/>
                </a:solidFill>
              </a:defRPr>
            </a:pPr>
            <a:r>
              <a:t>NEXORA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20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 HACKATHON 2026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Problem: SIH26171 | ISRO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PERCEPTA delivers practical benefits through local visual understanding and safe browser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355FAC"/>
                </a:solidFill>
              </a:defRPr>
            </a:pPr>
            <a:r>
              <a:t>USER BENEFITS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Natural-language task execution without complex scripting or coding.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Aerospace mission-control interface with live computer-vision overlay.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Real-time visible progress, action status, and transparent execution timeline.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Guaranteed verified task completion with zero fake success states.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Interactive confirmation modal retains human-in-the-loop control for sensitive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554480"/>
            <a:ext cx="34290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355FAC"/>
                </a:solidFill>
              </a:defRPr>
            </a:pPr>
            <a:r>
              <a:t>TECHNICAL BENEFITS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On-device local visual perception eliminates remote VLM token costs.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5-factor Vision + DOM hybrid scoring overcomes brittle CSS/XPath selector breakage.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Ultra-lightweight footprint (~19% CPU load, &lt;50MB Node heap memory).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Offline-capable and deterministic with 70 passing automated tests.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Modular plug-and-play architecture ready for future ONNX weights (MobileNet/YOLO).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554480"/>
            <a:ext cx="34290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355FAC"/>
                </a:solidFill>
              </a:defRPr>
            </a:pPr>
            <a:r>
              <a:t>PRIVACY &amp; RELIABILITY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Local PII detection &amp; redaction for passwords, emails, phone numbers, and IDs.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Verifiable zero remote data transfer (cloudCalls: 0 guaranteed).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Fully compliant with air-gapped defense and ISRO space network mandates.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Safety confirmation gates sensitive actions (login, submit, delete, payment).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Autonomous verification and self-correction prevent catastrophic agent lockup.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06440"/>
            <a:ext cx="10728655" cy="411480"/>
          </a:xfrm>
          <a:prstGeom prst="roundRect">
            <a:avLst/>
          </a:prstGeom>
          <a:solidFill>
            <a:srgbClr val="3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SEE LOCALLY  •  UNDERSTAND HYBRID  •  ACT SAFELY  •  VERIFY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55FAC"/>
                </a:solidFill>
              </a:defRPr>
            </a:pPr>
            <a:r>
              <a:t>NEXORA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20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 HACKATHON 2026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Problem: SIH26171 | ISRO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spcAft>
                <a:spcPts val="700"/>
              </a:spcAft>
            </a:pPr>
            <a:r>
              <a:rPr b="1" sz="1100">
                <a:solidFill>
                  <a:srgbClr val="102C57"/>
                </a:solidFill>
              </a:rPr>
              <a:t>•  ONNX Runtime Web – On-Device AI Inference — </a:t>
            </a:r>
            <a:r>
              <a:rPr sz="1000" u="sng">
                <a:solidFill>
                  <a:srgbClr val="355FAC"/>
                </a:solidFill>
              </a:rPr>
              <a:t>https://onnxruntime.ai/docs/tutorials/web/
</a:t>
            </a:r>
            <a:r>
              <a:rPr sz="950">
                <a:solidFill>
                  <a:srgbClr val="64748B"/>
                </a:solidFill>
              </a:rPr>
              <a:t>    Cross-platform acceleration for lightweight local neural models on CPU and WebGPU.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2C57"/>
                </a:solidFill>
              </a:rPr>
              <a:t>•  ONNX Runtime Web – WebGPU Acceleration — </a:t>
            </a:r>
            <a:r>
              <a:rPr sz="1000" u="sng">
                <a:solidFill>
                  <a:srgbClr val="355FAC"/>
                </a:solidFill>
              </a:rPr>
              <a:t>https://onnxruntime.ai/docs/tutorials/web/ep-webgpu.html
</a:t>
            </a:r>
            <a:r>
              <a:rPr sz="950">
                <a:solidFill>
                  <a:srgbClr val="64748B"/>
                </a:solidFill>
              </a:rPr>
              <a:t>    Enables high-throughput client-side vision tensor evaluation without remote cloud APIs.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2C57"/>
                </a:solidFill>
              </a:rPr>
              <a:t>•  Playwright – End-to-End Browser Automation — </a:t>
            </a:r>
            <a:r>
              <a:rPr sz="1000" u="sng">
                <a:solidFill>
                  <a:srgbClr val="355FAC"/>
                </a:solidFill>
              </a:rPr>
              <a:t>https://playwright.dev/docs/intro
</a:t>
            </a:r>
            <a:r>
              <a:rPr sz="950">
                <a:solidFill>
                  <a:srgbClr val="64748B"/>
                </a:solidFill>
              </a:rPr>
              <a:t>    Fast, resilient browser automation with accessibility-aware locator targeting and viewport control.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2C57"/>
                </a:solidFill>
              </a:rPr>
              <a:t>•  MDN – WebGPU API Documentation — </a:t>
            </a:r>
            <a:r>
              <a:rPr sz="1000" u="sng">
                <a:solidFill>
                  <a:srgbClr val="355FAC"/>
                </a:solidFill>
              </a:rPr>
              <a:t>https://developer.mozilla.org/en-US/docs/Web/API/WebGPU_API
</a:t>
            </a:r>
            <a:r>
              <a:rPr sz="950">
                <a:solidFill>
                  <a:srgbClr val="64748B"/>
                </a:solidFill>
              </a:rPr>
              <a:t>    Modern web standard for low-level graphics and general-purpose compute on client hardware.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2C57"/>
                </a:solidFill>
              </a:rPr>
              <a:t>•  UGround – Universal Visual Grounding for GUI Agents — </a:t>
            </a:r>
            <a:r>
              <a:rPr sz="1000" u="sng">
                <a:solidFill>
                  <a:srgbClr val="355FAC"/>
                </a:solidFill>
              </a:rPr>
              <a:t>UGround Research &amp; Code Repository
</a:t>
            </a:r>
            <a:r>
              <a:rPr sz="950">
                <a:solidFill>
                  <a:srgbClr val="64748B"/>
                </a:solidFill>
              </a:rPr>
              <a:t>    Pioneering visual grounding benchmarks that map natural language actions to pixel bounding boxes.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2C57"/>
                </a:solidFill>
              </a:rPr>
              <a:t>•  Aria-UI – Visual Grounding for GUI Instructions — </a:t>
            </a:r>
            <a:r>
              <a:rPr sz="1000" u="sng">
                <a:solidFill>
                  <a:srgbClr val="355FAC"/>
                </a:solidFill>
              </a:rPr>
              <a:t>Aria-UI Research Paper &amp; Benchmark
</a:t>
            </a:r>
            <a:r>
              <a:rPr sz="950">
                <a:solidFill>
                  <a:srgbClr val="64748B"/>
                </a:solidFill>
              </a:rPr>
              <a:t>    Demonstrates the synergy of fusing accessibility hierarchy (ARIA) with visual feature maps for agent navigation.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2C57"/>
                </a:solidFill>
              </a:rPr>
              <a:t>•  GUI-Eyes – Tool-Augmented Perception for GUI Agents — </a:t>
            </a:r>
            <a:r>
              <a:rPr sz="1000" u="sng">
                <a:solidFill>
                  <a:srgbClr val="355FAC"/>
                </a:solidFill>
              </a:rPr>
              <a:t>GUI-Eyes Research Paper
</a:t>
            </a:r>
            <a:r>
              <a:rPr sz="950">
                <a:solidFill>
                  <a:srgbClr val="64748B"/>
                </a:solidFill>
              </a:rPr>
              <a:t>    Validates multi-modal architectures combining DOM tree context and visual pixel coordinates.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2C57"/>
                </a:solidFill>
              </a:rPr>
              <a:t>•  Smart India Hackathon 2026 Guidelines (SIH26171) — </a:t>
            </a:r>
            <a:r>
              <a:rPr sz="1000" u="sng">
                <a:solidFill>
                  <a:srgbClr val="355FAC"/>
                </a:solidFill>
              </a:rPr>
              <a:t>Department of Space / ISRO
</a:t>
            </a:r>
            <a:r>
              <a:rPr sz="950">
                <a:solidFill>
                  <a:srgbClr val="64748B"/>
                </a:solidFill>
              </a:rPr>
              <a:t>    Problem Statement: On-device Visual Perception for Light-weight Browser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